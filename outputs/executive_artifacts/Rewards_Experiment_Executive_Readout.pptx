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Rewards Value Realization &amp; Incrementality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Synthetic randomized experiment | Executive readout | NOT Starbucks actuals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Decision question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000"/>
              <a:t>Question: does assignment to a hypothetical targeted engagement intervention increase cumulative contribution per randomized member?</a:t>
            </a:r>
          </a:p>
          <a:p>
            <a:pPr>
              <a:defRPr sz="2200"/>
            </a:pPr>
            <a:r>
              <a:rPr sz="2000"/>
              <a:t>Synthetic panel: 20,000 members, Jan–Jun 2026; 18,866 eligible and randomized on Apr 1.</a:t>
            </a:r>
          </a:p>
          <a:p>
            <a:pPr>
              <a:defRPr sz="2200"/>
            </a:pPr>
            <a:r>
              <a:rPr sz="2000"/>
              <a:t>Treatment/control randomized 1:1 within tier; primary analysis is intention-to-treat (ITT).</a:t>
            </a:r>
          </a:p>
          <a:p>
            <a:pPr>
              <a:defRPr sz="2200"/>
            </a:pPr>
            <a:r>
              <a:rPr sz="2000"/>
              <a:t>Contribution deducts variable cost, ordinary reward cost, used-benefit cost, and intervention cost exactly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Primary ITT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000"/>
              <a:t>Treatment mean contribution/member: $31.94; control: $29.73 (Apr–Jun cumulative).</a:t>
            </a:r>
          </a:p>
          <a:p>
            <a:pPr>
              <a:defRPr sz="2200"/>
            </a:pPr>
            <a:r>
              <a:rPr sz="2000"/>
              <a:t>Difference (treatment − control): $2.21 per randomized member.</a:t>
            </a:r>
          </a:p>
          <a:p>
            <a:pPr>
              <a:defRPr sz="2200"/>
            </a:pPr>
            <a:r>
              <a:rPr sz="2000"/>
              <a:t>95% CI: $1.51 to $2.91; two-sided p = 6.29e-10.</a:t>
            </a:r>
          </a:p>
          <a:p>
            <a:pPr>
              <a:defRPr sz="2200"/>
            </a:pPr>
            <a:r>
              <a:rPr sz="2000"/>
              <a:t>N: 9,454 treatment; 9,412 control.</a:t>
            </a:r>
          </a:p>
          <a:p>
            <a:pPr>
              <a:defRPr sz="2200"/>
            </a:pPr>
            <a:r>
              <a:rPr sz="2000"/>
              <a:t>Interpretation applies only to this synthetic data-generating process; it is not an estimate of actual Starbucks program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Secondary outcomes &amp;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000"/>
              <a:t>Transactions/member difference: 0.90 (95% CI 0.70 to 1.10).</a:t>
            </a:r>
          </a:p>
          <a:p>
            <a:pPr>
              <a:defRPr sz="2200"/>
            </a:pPr>
            <a:r>
              <a:rPr sz="2000"/>
              <a:t>Net sales/member difference: $8.78 (95% CI $6.81 to $10.75).</a:t>
            </a:r>
          </a:p>
          <a:p>
            <a:pPr>
              <a:defRPr sz="2200"/>
            </a:pPr>
            <a:r>
              <a:rPr sz="2000"/>
              <a:t>Adjusted HC3 sensitivity coefficient: $2.04 (95% CI $1.43 to $2.65).</a:t>
            </a:r>
          </a:p>
          <a:p>
            <a:pPr>
              <a:defRPr sz="2200"/>
            </a:pPr>
            <a:r>
              <a:rPr sz="2000"/>
              <a:t>Purchaser-rate difference is not statistically distinguishable from zero in this run; do not cherry-pick secondary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Illustrative contribution scaling — not a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000"/>
              <a:t>Conservative (primary Welch CI lower bound): $15,121 across 10,000 eligible members.</a:t>
            </a:r>
          </a:p>
          <a:p>
            <a:pPr>
              <a:defRPr sz="2200"/>
            </a:pPr>
            <a:r>
              <a:rPr sz="2000"/>
              <a:t>Base case (primary ITT point estimate): $22,135 across 10,000 eligible members.</a:t>
            </a:r>
          </a:p>
          <a:p>
            <a:pPr>
              <a:defRPr sz="2200"/>
            </a:pPr>
            <a:r>
              <a:rPr sz="2000"/>
              <a:t>Upside (primary Welch CI upper bound): $29,148 across 10,000 eligible members.</a:t>
            </a:r>
          </a:p>
          <a:p>
            <a:pPr>
              <a:defRPr sz="2200"/>
            </a:pPr>
            <a:r>
              <a:rPr sz="2000"/>
              <a:t>These values simply scale the synthetic per-member estimate and its confidence bounds; they are not a forecast or recommendation.</a:t>
            </a:r>
          </a:p>
          <a:p>
            <a:pPr>
              <a:defRPr sz="2200"/>
            </a:pPr>
            <a:r>
              <a:rPr sz="2000"/>
              <a:t>All modeled variable, reward, benefit and intervention costs are already deducted in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Benefit delivery is not incrementality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000"/>
              <a:t>Treatment exposure / eligible events: 80.3%; use / exposed events: 29.7%.</a:t>
            </a:r>
          </a:p>
          <a:p>
            <a:pPr>
              <a:defRPr sz="2200"/>
            </a:pPr>
            <a:r>
              <a:rPr sz="2000"/>
              <a:t>Control organic use / eligible events: 4.5%; no campaign exposure was assigned to control.</a:t>
            </a:r>
          </a:p>
          <a:p>
            <a:pPr>
              <a:defRPr sz="2200"/>
            </a:pPr>
            <a:r>
              <a:rPr sz="2000"/>
              <a:t>Exposure and use are descriptive process metrics. Do not compare redeemers with non-redeemers as if randomized.</a:t>
            </a:r>
          </a:p>
          <a:p>
            <a:pPr>
              <a:defRPr sz="2200"/>
            </a:pPr>
            <a:r>
              <a:rPr sz="2000"/>
              <a:t>Modeled benefit and intervention costs are already included in contribution; do not subtract them twice.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000"/>
              <a:t>All member data, costs, tiers, seasonality and campaign effects are synthetic. The planted exposed-member transaction-intensity multiplier is 115%; exposure probability is 80%.</a:t>
            </a:r>
          </a:p>
          <a:p>
            <a:pPr>
              <a:defRPr sz="2200"/>
            </a:pPr>
            <a:r>
              <a:rPr sz="2000"/>
              <a:t>Purchaser-rate difference is not statistically distinguishable from zero at the 5% level in this synthetic run; treat it as exploratory.</a:t>
            </a:r>
          </a:p>
          <a:p>
            <a:pPr>
              <a:defRPr sz="2200"/>
            </a:pPr>
            <a:r>
              <a:rPr sz="2000"/>
              <a:t>The supplied notebook records successful BigQuery loading/modeling and 18 passing warehouse QA checks; verify the live objects because Sandbox tables/views expire.</a:t>
            </a:r>
          </a:p>
          <a:p>
            <a:pPr>
              <a:defRPr sz="2200"/>
            </a:pPr>
            <a:r>
              <a:rPr sz="2000"/>
              <a:t>Python-versus-BigQuery arm-mean reconciliation and actual Looker Studio dashboard construction/QA remain separate release gates.</a:t>
            </a:r>
          </a:p>
          <a:p>
            <a:pPr>
              <a:defRPr sz="2200"/>
            </a:pPr>
            <a:r>
              <a:rPr sz="2000"/>
              <a:t>Use this result as a demonstration of reproducible analytical workflow—not a rollout recommendation or Starbucks forecast.</a:t>
            </a:r>
          </a:p>
          <a:p>
            <a:pPr>
              <a:defRPr sz="2200"/>
            </a:pPr>
            <a:r>
              <a:rPr sz="2000"/>
              <a:t>Reproducibility run ID: 773a7e55da4fee89. The output is derived from the four CSV hashes listed in the workbook.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